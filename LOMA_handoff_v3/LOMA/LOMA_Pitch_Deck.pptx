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Arrivals</c:v>
                </c:pt>
              </c:strCache>
            </c:strRef>
          </c:tx>
          <c:spPr>
            <a:solidFill>
              <a:srgbClr val="11897C">
                <a:alpha val="100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312B"/>
                    </a:solidFill>
                    <a:latin typeface="Calibri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Russia</c:v>
                </c:pt>
                <c:pt idx="1">
                  <c:v>India</c:v>
                </c:pt>
                <c:pt idx="2">
                  <c:v>China</c:v>
                </c:pt>
                <c:pt idx="3">
                  <c:v>UK</c:v>
                </c:pt>
                <c:pt idx="4">
                  <c:v>Australia</c:v>
                </c:pt>
                <c:pt idx="5">
                  <c:v>Germany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1.07</c:v>
                </c:pt>
                <c:pt idx="1">
                  <c:v>0.48</c:v>
                </c:pt>
                <c:pt idx="2">
                  <c:v>0.45</c:v>
                </c:pt>
                <c:pt idx="3">
                  <c:v>0.32</c:v>
                </c:pt>
                <c:pt idx="4">
                  <c:v>0.28000000000000003</c:v>
                </c:pt>
                <c:pt idx="5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5B-8648-AC1D-D3EDC6F4A9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3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341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217920" cy="6217920"/>
          </a:xfrm>
          <a:prstGeom prst="ellipse">
            <a:avLst/>
          </a:prstGeom>
          <a:ln w="1905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9509760" y="-1005840"/>
            <a:ext cx="4206240" cy="4206240"/>
          </a:xfrm>
          <a:prstGeom prst="ellipse">
            <a:avLst/>
          </a:prstGeom>
          <a:ln w="1905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0424160" y="-91440"/>
            <a:ext cx="2377440" cy="2377440"/>
          </a:xfrm>
          <a:prstGeom prst="ellipse">
            <a:avLst/>
          </a:prstGeom>
          <a:solidFill>
            <a:srgbClr val="E9F1EE"/>
          </a:solidFill>
          <a:ln w="127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0424160" y="-914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 ·  PHUKET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5000" b="1" kern="0" spc="1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50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Operator Matching Assistant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5216" y="4434840"/>
            <a:ext cx="2011680" cy="0"/>
          </a:xfrm>
          <a:prstGeom prst="line">
            <a:avLst/>
          </a:prstGeom>
          <a:noFill/>
          <a:ln w="317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" y="4526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local know-how into trackable tourist visits.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19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· THE MOMENT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29768" y="8229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dirty="0">
                <a:solidFill>
                  <a:srgbClr val="0C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12648" y="16916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i="1" dirty="0">
                <a:solidFill>
                  <a:srgbClr val="14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eat tonight —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i="1" dirty="0">
                <a:solidFill>
                  <a:srgbClr val="14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somewhere local, not a tourist trap?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guest, five minutes after check-in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1605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front-desk staffer actually knows good places. But they freeze — </a:t>
            </a: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time, can’t recall names, afraid to send the guest somewhere wrong.</a:t>
            </a:r>
            <a:r>
              <a:rPr lang="en-US" sz="16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they name the same tourist spot everyone does — or say “just Google it.”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moment repeats thousands of times a day across Phuket.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19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160318-974B-5F9F-D6EB-5D6B9FA12B7A}"/>
              </a:ext>
            </a:extLst>
          </p:cNvPr>
          <p:cNvSpPr/>
          <p:nvPr/>
        </p:nvSpPr>
        <p:spPr>
          <a:xfrm>
            <a:off x="5852160" y="914400"/>
            <a:ext cx="2856411" cy="3074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อย่าปูออกนอกโจทย์</a:t>
            </a:r>
          </a:p>
          <a:p>
            <a:pPr algn="ctr"/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โจทย์คือ ผลักดันรายย่อยให้นักท่องเที่ยวเห็น</a:t>
            </a:r>
          </a:p>
          <a:p>
            <a:pPr algn="ctr"/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แต่อย่าลงลึกไปยังเจ้าหน้าที่</a:t>
            </a:r>
            <a:r>
              <a:rPr lang="th-TH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โรวแ</a:t>
            </a:r>
            <a:r>
              <a:rPr lang="th-TH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รม</a:t>
            </a:r>
            <a:endParaRPr lang="en-TH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· TWO SIDES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— both losing, at the same moment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0749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87552" y="2569464"/>
            <a:ext cx="804672" cy="80467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239012" y="2941625"/>
            <a:ext cx="301752" cy="251460"/>
          </a:xfrm>
          <a:prstGeom prst="roundRect">
            <a:avLst>
              <a:gd name="adj" fmla="val 21818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1289304" y="2780690"/>
            <a:ext cx="201168" cy="201168"/>
          </a:xfrm>
          <a:prstGeom prst="arc">
            <a:avLst>
              <a:gd name="adj1" fmla="val 10800000"/>
              <a:gd name="adj2" fmla="val 21600000"/>
            </a:avLst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978408" y="35661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is trapped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96696" y="40233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drivers, guesthouse owners and guides all know great local spots — but that knowledge never reaches the tourist at the second they’re deciding.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2148840"/>
            <a:ext cx="50749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6629400" y="2569464"/>
            <a:ext cx="804672" cy="80467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860743" y="2800807"/>
            <a:ext cx="261518" cy="261518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061911" y="3001975"/>
            <a:ext cx="140818" cy="140818"/>
          </a:xfrm>
          <a:prstGeom prst="line">
            <a:avLst/>
          </a:prstGeom>
          <a:noFill/>
          <a:ln w="3302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620256" y="35661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SMEs are invisible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38544" y="40233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 small restaurants, cafés and community experiences can’t out-advertise or out-review the tourist-trap chains on Google.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 never happens — exactly when it matters most.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TO BUILD · THE DEMAND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already here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72000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804672" y="191109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8.65M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arrivals to Phuket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+23% YoY (C9 Hotelworks)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291840"/>
            <a:ext cx="4572000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804672" y="341985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฿497.5B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tourism 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province in Thailand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4572000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04672" y="492861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42,598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MSMEs to lift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8978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in tourism &amp; services (OSMEP)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1783080"/>
            <a:ext cx="6126480" cy="4498848"/>
          </a:xfrm>
          <a:prstGeom prst="roundRect">
            <a:avLst>
              <a:gd name="adj" fmla="val 1626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80644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international source markets · 2024 (approx., millions)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623560" y="2331720"/>
          <a:ext cx="59436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7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LOMA 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 closes the gap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local-recommendation layer for Phuket tourism.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960120" y="2706624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1209751" y="2898648"/>
            <a:ext cx="268834" cy="384048"/>
          </a:xfrm>
          <a:prstGeom prst="roundRect">
            <a:avLst>
              <a:gd name="adj" fmla="val 17007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1296162" y="3234690"/>
            <a:ext cx="96012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950976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9264" y="4069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Front-line staff find &amp; share 3 good local picks in under 30 seconds.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745736" y="2706624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937760" y="2956255"/>
            <a:ext cx="384048" cy="268834"/>
          </a:xfrm>
          <a:prstGeom prst="roundRect">
            <a:avLst>
              <a:gd name="adj" fmla="val 17007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5014570" y="3071470"/>
            <a:ext cx="153619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014570" y="3138678"/>
            <a:ext cx="220828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36592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card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from a link or QR — no app, no login. English &amp; Thai.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8531352" y="2706624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723376" y="3109874"/>
            <a:ext cx="96012" cy="172822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867394" y="3013862"/>
            <a:ext cx="96012" cy="268834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9011412" y="2917850"/>
            <a:ext cx="96012" cy="364846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8522208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dashboard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40496" y="4069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tracked to a real, confirmed local visit &amp; spend.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job: the right local pick, at the deciding moment.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four sides of the destination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163160" y="2907792"/>
            <a:ext cx="1865376" cy="1865376"/>
          </a:xfrm>
          <a:prstGeom prst="ellipse">
            <a:avLst/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163160" y="333756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6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63160" y="39776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33088" y="3502152"/>
            <a:ext cx="1962760" cy="338328"/>
          </a:xfrm>
          <a:prstGeom prst="line">
            <a:avLst/>
          </a:prstGeom>
          <a:noFill/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777240" y="2624328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945490" y="2770632"/>
            <a:ext cx="248717" cy="292608"/>
          </a:xfrm>
          <a:prstGeom prst="roundRect">
            <a:avLst>
              <a:gd name="adj" fmla="val 11029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996696" y="2836469"/>
            <a:ext cx="43891" cy="43891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1099109" y="2836469"/>
            <a:ext cx="43891" cy="43891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996696" y="2924251"/>
            <a:ext cx="43891" cy="43891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099109" y="2924251"/>
            <a:ext cx="43891" cy="43891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1527048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partners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27048" y="2807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· hostels · rentals · drivers — they recommend.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6095848" y="3502152"/>
            <a:ext cx="1962760" cy="338328"/>
          </a:xfrm>
          <a:prstGeom prst="line">
            <a:avLst/>
          </a:prstGeom>
          <a:noFill/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8058607" y="23317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8268919" y="2624328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488375" y="2785262"/>
            <a:ext cx="102413" cy="102413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576158" y="2814523"/>
            <a:ext cx="87782" cy="87782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8422538" y="2909621"/>
            <a:ext cx="277978" cy="277978"/>
          </a:xfrm>
          <a:prstGeom prst="arc">
            <a:avLst>
              <a:gd name="adj1" fmla="val 10800000"/>
              <a:gd name="adj2" fmla="val 21600000"/>
            </a:avLst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9018727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18727" y="2807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pick instantly — no app, no login, no paralysis.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4133088" y="3840480"/>
            <a:ext cx="1962760" cy="777240"/>
          </a:xfrm>
          <a:prstGeom prst="line">
            <a:avLst/>
          </a:prstGeom>
          <a:noFill/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566928" y="46177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77240" y="4910328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 rot="8100000">
            <a:off x="945490" y="5078578"/>
            <a:ext cx="248717" cy="248717"/>
          </a:xfrm>
          <a:prstGeom prst="teardrop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1527048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providers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527048" y="5093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cafés · massage · community — they get real leads.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95848" y="3840480"/>
            <a:ext cx="1962760" cy="777240"/>
          </a:xfrm>
          <a:prstGeom prst="line">
            <a:avLst/>
          </a:prstGeom>
          <a:noFill/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8058607" y="4617720"/>
            <a:ext cx="3566160" cy="1170432"/>
          </a:xfrm>
          <a:prstGeom prst="roundRect">
            <a:avLst>
              <a:gd name="adj" fmla="val 5469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8268919" y="4910328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8429854" y="5071262"/>
            <a:ext cx="914" cy="263347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8429854" y="5334610"/>
            <a:ext cx="263347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 flipV="1">
            <a:off x="8473745" y="5173675"/>
            <a:ext cx="73152" cy="73152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8546897" y="5173675"/>
            <a:ext cx="73152" cy="36576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 flipV="1">
            <a:off x="8620049" y="5093208"/>
            <a:ext cx="65837" cy="117043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9018727" y="4764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/ BDI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018727" y="5093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local economic impact, not vanity metrics.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60120" y="3383280"/>
            <a:ext cx="10271455" cy="0"/>
          </a:xfrm>
          <a:prstGeom prst="line">
            <a:avLst/>
          </a:prstGeom>
          <a:noFill/>
          <a:ln w="1905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84632" y="2907792"/>
            <a:ext cx="950976" cy="950976"/>
          </a:xfrm>
          <a:prstGeom prst="ellipse">
            <a:avLst/>
          </a:prstGeom>
          <a:solidFill>
            <a:srgbClr val="E9F1EE"/>
          </a:solidFill>
          <a:ln w="25400">
            <a:solidFill>
              <a:srgbClr val="11897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84632" y="290779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-457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91440" y="4023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pick 3 local spots by intent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3063240"/>
            <a:ext cx="161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52496" y="2907792"/>
            <a:ext cx="950976" cy="950976"/>
          </a:xfrm>
          <a:prstGeom prst="ellipse">
            <a:avLst/>
          </a:prstGeom>
          <a:solidFill>
            <a:srgbClr val="E9F1EE"/>
          </a:solidFill>
          <a:ln w="25400">
            <a:solidFill>
              <a:srgbClr val="11897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052496" y="290779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22144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6424" y="4023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· WhatsApp · QR · link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03472" y="3063240"/>
            <a:ext cx="161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20360" y="2907792"/>
            <a:ext cx="950976" cy="950976"/>
          </a:xfrm>
          <a:prstGeom prst="ellipse">
            <a:avLst/>
          </a:prstGeom>
          <a:solidFill>
            <a:srgbClr val="E9F1EE"/>
          </a:solidFill>
          <a:ln w="25400">
            <a:solidFill>
              <a:srgbClr val="11897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20360" y="290779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90008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4288" y="4023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opens the card — no login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71336" y="3063240"/>
            <a:ext cx="161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88223" y="2907792"/>
            <a:ext cx="950976" cy="950976"/>
          </a:xfrm>
          <a:prstGeom prst="ellipse">
            <a:avLst/>
          </a:prstGeom>
          <a:solidFill>
            <a:srgbClr val="E9F1EE"/>
          </a:solidFill>
          <a:ln w="25400">
            <a:solidFill>
              <a:srgbClr val="11897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8188223" y="290779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57871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12151" y="4023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scans the referral code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39199" y="3063240"/>
            <a:ext cx="1616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756087" y="2907792"/>
            <a:ext cx="950976" cy="950976"/>
          </a:xfrm>
          <a:prstGeom prst="ellipse">
            <a:avLst/>
          </a:prstGeom>
          <a:solidFill>
            <a:srgbClr val="B77F16"/>
          </a:solidFill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0756087" y="2907792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225735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80015" y="4023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as real local spend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share carries a referral code — so the loop is measurable end to end.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PAIN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pain, answered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24167" y="1627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LOMA’S 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768096" y="2286000"/>
            <a:ext cx="91440" cy="91440"/>
          </a:xfrm>
          <a:prstGeom prst="ellipse">
            <a:avLst/>
          </a:prstGeom>
          <a:solidFill>
            <a:srgbClr val="C24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1024128" y="20116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freeze — can’t recall names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58968" y="2011680"/>
            <a:ext cx="12737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32727" y="2011680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E9F1EE"/>
          </a:solidFill>
          <a:ln w="12700">
            <a:solidFill>
              <a:srgbClr val="0C6A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7007047" y="20116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vetted picks by intent, in under 30 seconds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798064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768096" y="3072384"/>
            <a:ext cx="91440" cy="91440"/>
          </a:xfrm>
          <a:prstGeom prst="ellipse">
            <a:avLst/>
          </a:prstGeom>
          <a:solidFill>
            <a:srgbClr val="C24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024128" y="279806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unprofessional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58968" y="2798064"/>
            <a:ext cx="12737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32727" y="2798064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E9F1EE"/>
          </a:solidFill>
          <a:ln w="12700">
            <a:solidFill>
              <a:srgbClr val="0C6A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7007047" y="279806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branded card the guest opens — not a scribbled name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584448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768096" y="3858768"/>
            <a:ext cx="91440" cy="91440"/>
          </a:xfrm>
          <a:prstGeom prst="ellipse">
            <a:avLst/>
          </a:prstGeom>
          <a:solidFill>
            <a:srgbClr val="C24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1024128" y="3584448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Grabbing the guest’s phone to type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58968" y="3584448"/>
            <a:ext cx="12737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32727" y="3584448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E9F1EE"/>
          </a:solidFill>
          <a:ln w="12700">
            <a:solidFill>
              <a:srgbClr val="0C6A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7007047" y="358444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or link — no typing, no fumbling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370832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768096" y="4645152"/>
            <a:ext cx="91440" cy="91440"/>
          </a:xfrm>
          <a:prstGeom prst="ellipse">
            <a:avLst/>
          </a:prstGeom>
          <a:solidFill>
            <a:srgbClr val="C24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024128" y="437083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only know a few shops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58968" y="4370832"/>
            <a:ext cx="12737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732727" y="4370832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E9F1EE"/>
          </a:solidFill>
          <a:ln w="12700">
            <a:solidFill>
              <a:srgbClr val="0C6A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7007047" y="437083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vetted catalog, every category, one tap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5157216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768096" y="5431536"/>
            <a:ext cx="91440" cy="91440"/>
          </a:xfrm>
          <a:prstGeom prst="ellipse">
            <a:avLst/>
          </a:prstGeom>
          <a:solidFill>
            <a:srgbClr val="C2452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1024128" y="515721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local spots stay invisible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58968" y="5157216"/>
            <a:ext cx="12737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732727" y="5157216"/>
            <a:ext cx="4892040" cy="640080"/>
          </a:xfrm>
          <a:prstGeom prst="roundRect">
            <a:avLst>
              <a:gd name="adj" fmla="val 7143"/>
            </a:avLst>
          </a:prstGeom>
          <a:solidFill>
            <a:srgbClr val="E9F1EE"/>
          </a:solidFill>
          <a:ln w="12700">
            <a:solidFill>
              <a:srgbClr val="0C6A6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7007047" y="515721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exposure for verified local SMEs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ln w="1905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ANSWER THE HARD ONES FIRST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you’re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asking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12648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 </a:t>
            </a:r>
            <a:r>
              <a:rPr lang="en-US" sz="16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Google Maps?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12648" y="4270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 </a:t>
            </a:r>
            <a:r>
              <a:rPr lang="en-US" sz="16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experienced staff stop using it?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2648" y="47457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 </a:t>
            </a:r>
            <a:r>
              <a:rPr lang="en-US" sz="16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stop fake listings &amp; gaming?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2648" y="52212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 </a:t>
            </a:r>
            <a:r>
              <a:rPr lang="en-US" sz="16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impact real, or a vanity metric?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12648" y="56967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 </a:t>
            </a:r>
            <a:r>
              <a:rPr lang="en-US" sz="16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— and is it sustainable?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WHY NOT JUST GOOGLE?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out-review Google.
</a:t>
            </a:r>
            <a:r>
              <a:rPr lang="en-US" sz="38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out-</a:t>
            </a:r>
            <a:r>
              <a:rPr lang="en-US" sz="3800" b="1" i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r>
              <a:rPr lang="en-US" sz="38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5074920" cy="2651760"/>
          </a:xfrm>
          <a:prstGeom prst="roundRect">
            <a:avLst>
              <a:gd name="adj" fmla="val 2414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978408" y="32461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408" y="379476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gameable reviews and decision paralysis. Great for search — not for “tell me where to go, right now.”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08776" y="2880360"/>
            <a:ext cx="5074920" cy="2651760"/>
          </a:xfrm>
          <a:prstGeom prst="roundRect">
            <a:avLst>
              <a:gd name="adj" fmla="val 2414"/>
            </a:avLst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620256" y="319125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700" b="1" kern="0" spc="1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7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0256" y="379476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vetted list, hand-picked by a local you trust. Ranked by trust &amp; locality — never popularity or payment.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WILL STAFF KEEP USING IT?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risk — solved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tool gets memorised and bypassed. So we give staff a reason to open LOMA every single 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86384" y="2799893"/>
            <a:ext cx="292608" cy="248717"/>
          </a:xfrm>
          <a:prstGeom prst="roundRect">
            <a:avLst>
              <a:gd name="adj" fmla="val 14706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786384" y="2880360"/>
            <a:ext cx="292608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866851" y="2763317"/>
            <a:ext cx="914" cy="73152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998525" y="2763317"/>
            <a:ext cx="914" cy="73152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435608" y="2587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events, weekly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35608" y="28986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night markets, temple fairs, boat races — timely things no one can memorise.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 rot="10800000">
            <a:off x="808330" y="3703320"/>
            <a:ext cx="248717" cy="277978"/>
          </a:xfrm>
          <a:prstGeom prst="pentagon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881482" y="3849624"/>
            <a:ext cx="43891" cy="51206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 flipV="1">
            <a:off x="925373" y="3798418"/>
            <a:ext cx="80467" cy="102413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1435608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by BDI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35608" y="38313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vetted, location-pinned and always fresh.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998525" y="4643323"/>
            <a:ext cx="73152" cy="73152"/>
          </a:xfrm>
          <a:prstGeom prst="ellipse">
            <a:avLst/>
          </a:prstGeom>
          <a:solidFill>
            <a:srgbClr val="B77F16"/>
          </a:solidFill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793699" y="4745736"/>
            <a:ext cx="73152" cy="73152"/>
          </a:xfrm>
          <a:prstGeom prst="ellipse">
            <a:avLst/>
          </a:prstGeom>
          <a:solidFill>
            <a:srgbClr val="B77F16"/>
          </a:solidFill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998525" y="4848149"/>
            <a:ext cx="73152" cy="73152"/>
          </a:xfrm>
          <a:prstGeom prst="ellipse">
            <a:avLst/>
          </a:prstGeom>
          <a:solidFill>
            <a:srgbClr val="B77F16"/>
          </a:solidFill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 flipV="1">
            <a:off x="852221" y="4687214"/>
            <a:ext cx="160934" cy="95098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852221" y="4782312"/>
            <a:ext cx="160934" cy="95098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1435608" y="44531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share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35608" y="47640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 event to the tourist card via the same 6 channels.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422392"/>
            <a:ext cx="585216" cy="58521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86384" y="5568696"/>
            <a:ext cx="292608" cy="292608"/>
          </a:xfrm>
          <a:prstGeom prst="donut">
            <a:avLst>
              <a:gd name="adj" fmla="val 62500"/>
            </a:avLst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866851" y="5649163"/>
            <a:ext cx="131674" cy="131674"/>
          </a:xfrm>
          <a:prstGeom prst="ellipse">
            <a:avLst/>
          </a:prstGeom>
          <a:solidFill>
            <a:srgbClr val="E9F1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 rot="5400000">
            <a:off x="1013155" y="5546750"/>
            <a:ext cx="102413" cy="102413"/>
          </a:xfrm>
          <a:prstGeom prst="triangle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1435608" y="538581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Habit, not memory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435608" y="569671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open LOMA daily for what’s new — even knowing every restaurant.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55280" y="1572768"/>
            <a:ext cx="2743200" cy="4297680"/>
          </a:xfrm>
          <a:prstGeom prst="roundRect">
            <a:avLst>
              <a:gd name="adj" fmla="val 6000"/>
            </a:avLst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8156448" y="1828800"/>
            <a:ext cx="2340864" cy="1371600"/>
          </a:xfrm>
          <a:prstGeom prst="roundRect">
            <a:avLst>
              <a:gd name="adj" fmla="val 5333"/>
            </a:avLst>
          </a:prstGeom>
          <a:solidFill>
            <a:srgbClr val="0C6A6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8961120" y="2148840"/>
            <a:ext cx="731520" cy="731520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9144000" y="2368296"/>
            <a:ext cx="365760" cy="310896"/>
          </a:xfrm>
          <a:prstGeom prst="roundRect">
            <a:avLst>
              <a:gd name="adj" fmla="val 11765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9144000" y="2468880"/>
            <a:ext cx="365760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9244584" y="2322576"/>
            <a:ext cx="914" cy="91440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9409176" y="2322576"/>
            <a:ext cx="914" cy="91440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8247888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ON · THIS WEEK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47888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Lard Yai Sunday Walking Street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47888" y="422452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· 16:00–22:00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Town, Phuket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47888" y="5093208"/>
            <a:ext cx="2157984" cy="502920"/>
          </a:xfrm>
          <a:prstGeom prst="roundRect">
            <a:avLst>
              <a:gd name="adj" fmla="val 18182"/>
            </a:avLst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8247888" y="5093208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to tourist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HOW DO YOU STOP FAKES &amp; GAMING?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 — and hard to game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074920" cy="1481328"/>
          </a:xfrm>
          <a:prstGeom prst="roundRect">
            <a:avLst>
              <a:gd name="adj" fmla="val 3704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22960" y="2578608"/>
            <a:ext cx="621792" cy="62179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 rot="10800000">
            <a:off x="1001725" y="2734056"/>
            <a:ext cx="264262" cy="295351"/>
          </a:xfrm>
          <a:prstGeom prst="pentagon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1079449" y="2889504"/>
            <a:ext cx="46634" cy="54407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 flipV="1">
            <a:off x="1126084" y="2835097"/>
            <a:ext cx="85496" cy="1088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1591056" y="2331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admission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91056" y="271576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locality checked before a business can be recommended.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08776" y="2148840"/>
            <a:ext cx="5074920" cy="1481328"/>
          </a:xfrm>
          <a:prstGeom prst="roundRect">
            <a:avLst>
              <a:gd name="adj" fmla="val 3704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464808" y="2578608"/>
            <a:ext cx="621792" cy="62179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620256" y="2920594"/>
            <a:ext cx="77724" cy="124358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729070" y="2842870"/>
            <a:ext cx="77724" cy="202082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6845656" y="2757373"/>
            <a:ext cx="77724" cy="287579"/>
          </a:xfrm>
          <a:prstGeom prst="rect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7232904" y="2331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trust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2904" y="271576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locality, quality &amp; readiness — never volume or payment.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904488"/>
            <a:ext cx="5074920" cy="1481328"/>
          </a:xfrm>
          <a:prstGeom prst="roundRect">
            <a:avLst>
              <a:gd name="adj" fmla="val 3704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822960" y="4334256"/>
            <a:ext cx="621792" cy="62179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1017270" y="4621835"/>
            <a:ext cx="233172" cy="194310"/>
          </a:xfrm>
          <a:prstGeom prst="roundRect">
            <a:avLst>
              <a:gd name="adj" fmla="val 28235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1056132" y="4497476"/>
            <a:ext cx="155448" cy="155448"/>
          </a:xfrm>
          <a:prstGeom prst="arc">
            <a:avLst>
              <a:gd name="adj1" fmla="val 10800000"/>
              <a:gd name="adj2" fmla="val 21600000"/>
            </a:avLst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1591056" y="40873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stay private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91056" y="447141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helps the recommender &amp; provider — never a public score to pump.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3904488"/>
            <a:ext cx="5074920" cy="1481328"/>
          </a:xfrm>
          <a:prstGeom prst="roundRect">
            <a:avLst>
              <a:gd name="adj" fmla="val 3704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6464808" y="4334256"/>
            <a:ext cx="621792" cy="621792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6643573" y="4513021"/>
            <a:ext cx="202082" cy="202082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6799021" y="4668469"/>
            <a:ext cx="108814" cy="108814"/>
          </a:xfrm>
          <a:prstGeom prst="line">
            <a:avLst/>
          </a:prstGeom>
          <a:noFill/>
          <a:ln w="3302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7232904" y="40873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32904" y="447141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Self-dealing (shared-owner) &amp; lead-concentration detection in admin.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remove the reward for spamming — so there’s nothing to spam for.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IS THE IMPACT REAL?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local economic impact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7040880" cy="676656"/>
          </a:xfrm>
          <a:prstGeom prst="roundRect">
            <a:avLst>
              <a:gd name="adj" fmla="val 6757"/>
            </a:avLst>
          </a:prstGeom>
          <a:solidFill>
            <a:srgbClr val="11897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841248" y="2221992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5328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 minted with a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935224"/>
            <a:ext cx="6332220" cy="676656"/>
          </a:xfrm>
          <a:prstGeom prst="roundRect">
            <a:avLst>
              <a:gd name="adj" fmla="val 6757"/>
            </a:avLst>
          </a:prstGeom>
          <a:solidFill>
            <a:srgbClr val="11897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41248" y="3008376"/>
            <a:ext cx="58750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open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5875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opens the link / QR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3721608"/>
            <a:ext cx="5623560" cy="676656"/>
          </a:xfrm>
          <a:prstGeom prst="roundRect">
            <a:avLst>
              <a:gd name="adj" fmla="val 6757"/>
            </a:avLst>
          </a:prstGeom>
          <a:solidFill>
            <a:srgbClr val="11897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41248" y="379476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· contact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" y="410565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to visit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507992"/>
            <a:ext cx="4914900" cy="676656"/>
          </a:xfrm>
          <a:prstGeom prst="roundRect">
            <a:avLst>
              <a:gd name="adj" fmla="val 6757"/>
            </a:avLst>
          </a:prstGeom>
          <a:solidFill>
            <a:srgbClr val="11897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841248" y="4581144"/>
            <a:ext cx="44577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visit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" y="4892040"/>
            <a:ext cx="44577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scans the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5294376"/>
            <a:ext cx="4206240" cy="676656"/>
          </a:xfrm>
          <a:prstGeom prst="roundRect">
            <a:avLst>
              <a:gd name="adj" fmla="val 6757"/>
            </a:avLst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41248" y="53675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local spend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5678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฿ into a local SME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502152" cy="3703320"/>
          </a:xfrm>
          <a:prstGeom prst="roundRect">
            <a:avLst>
              <a:gd name="adj" fmla="val 2089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8412480" y="2468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the destination can answer: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3832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recommendation
</a:t>
            </a:r>
            <a:r>
              <a:rPr lang="en-US" sz="20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confirmed visit
</a:t>
            </a: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฿ into a local SME.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WHO PAYS FOR IT?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aligned with the destination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960120" y="2633472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1209751" y="2825496"/>
            <a:ext cx="914" cy="384048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 rot="5400000">
            <a:off x="1209751" y="2825496"/>
            <a:ext cx="288036" cy="172822"/>
          </a:xfrm>
          <a:prstGeom prst="triangle">
            <a:avLst/>
          </a:prstGeom>
          <a:solidFill>
            <a:srgbClr val="B77F1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950976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Publicly-backed pilot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9264" y="40233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/ provincial tourism funds the pilot. LOMA is destination infrastructure — not an ad platform.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224028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745736" y="2633472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966564" y="2950312"/>
            <a:ext cx="326441" cy="240030"/>
          </a:xfrm>
          <a:prstGeom prst="roundRect">
            <a:avLst>
              <a:gd name="adj" fmla="val 11429"/>
            </a:avLst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5129784" y="2950312"/>
            <a:ext cx="914" cy="240030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966564" y="2950312"/>
            <a:ext cx="326441" cy="914"/>
          </a:xfrm>
          <a:prstGeom prst="line">
            <a:avLst/>
          </a:prstGeom>
          <a:noFill/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033772" y="2835097"/>
            <a:ext cx="96012" cy="96012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129784" y="2835097"/>
            <a:ext cx="96012" cy="96012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4736592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where it counts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 for tourists. Free for local providers to be listed. No pay-to-rank, ever.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2240280"/>
            <a:ext cx="3474720" cy="2788920"/>
          </a:xfrm>
          <a:prstGeom prst="roundRect">
            <a:avLst>
              <a:gd name="adj" fmla="val 2295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531352" y="2633472"/>
            <a:ext cx="768096" cy="768096"/>
          </a:xfrm>
          <a:prstGeom prst="ellipse">
            <a:avLst/>
          </a:prstGeom>
          <a:solidFill>
            <a:srgbClr val="E9F1EE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8742578" y="2844698"/>
            <a:ext cx="345643" cy="345643"/>
          </a:xfrm>
          <a:prstGeom prst="ellipse">
            <a:avLst/>
          </a:prstGeom>
          <a:ln w="2540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8723376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22208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paths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540496" y="40233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sponsorship as a public good; optional light fee for large hotel groups later.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 — so we never sell placement. Incentives stay aligned with the destination.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BENEFIT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local economic impact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676656" y="2441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hotel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04088" y="30815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tourists / week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44368" y="2148840"/>
            <a:ext cx="4206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46704" y="2148840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456432" y="2441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฿300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483864" y="30815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each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24144" y="2148840"/>
            <a:ext cx="4206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236208" y="2441448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฿3,000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263640" y="308152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hotel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1024128" y="4114800"/>
            <a:ext cx="10149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partner hotels   ≈   </a:t>
            </a:r>
            <a:r>
              <a:rPr lang="en-US" sz="4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฿15.6M</a:t>
            </a:r>
            <a:r>
              <a:rPr lang="en-US" sz="26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year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F73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· illustrative — Phuket already earns ฿497.5B/yr across 42,598 local SMEs; LOMA steers a measurable slice to the smallest operators.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 — A WORKING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ready to run this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804672" y="232257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providers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7490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 tourism, ready to seed from BDI open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11296" y="2194560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749040" y="232257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1,373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767328" y="301752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30752" y="37490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Phuket businesses scraped &amp; filtered — 495 top-priority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55664" y="2194560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693408" y="232257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18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711696" y="301752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work end to 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7490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· Tourist · Provider · Admin — fully clickable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00032" y="2194560"/>
            <a:ext cx="2670048" cy="1481328"/>
          </a:xfrm>
          <a:prstGeom prst="roundRect">
            <a:avLst>
              <a:gd name="adj" fmla="val 4321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9637776" y="2322576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656064" y="301752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categories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19488" y="374904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· Massage &amp; Wellness · Community Experience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 already runs the full loop, end to end — this is build, not concept.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90-day Phuket pilot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950976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C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9264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9264" y="384048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hotels &amp; hostels + 30 verified providers, in Old Town + Rawai.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736592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C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4880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full loop: recommendation → confirmed visit → local spend.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522208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C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40496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40496" y="3840480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confirmed visits, ฿ local spend, and partner adoption.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568756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189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measurable, bounded — a pilot the committee can actually fund.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looking for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886968" y="2578608"/>
            <a:ext cx="566928" cy="566928"/>
          </a:xfrm>
          <a:prstGeom prst="ellipse">
            <a:avLst/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86968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9928" y="250545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blessing + introductions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09928" y="29260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handful of hotels and local communities to start.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6118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86968" y="3904488"/>
            <a:ext cx="566928" cy="566928"/>
          </a:xfrm>
          <a:prstGeom prst="ellipse">
            <a:avLst/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86968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09928" y="383133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feedback on the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09928" y="4251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where you’d expect it to break.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9377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7F6"/>
          </a:solidFill>
          <a:ln w="12700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886968" y="5230368"/>
            <a:ext cx="566928" cy="566928"/>
          </a:xfrm>
          <a:prstGeom prst="ellipse">
            <a:avLst/>
          </a:prstGeom>
          <a:solidFill>
            <a:srgbClr val="E9F1EE"/>
          </a:solidFill>
          <a:ln w="190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86968" y="5230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09928" y="515721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to run the 90-day pilot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09928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prove real local impact with real numbers.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474720"/>
            <a:ext cx="6217920" cy="6217920"/>
          </a:xfrm>
          <a:prstGeom prst="ellipse">
            <a:avLst/>
          </a:prstGeom>
          <a:ln w="1905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-1188720" y="4480560"/>
            <a:ext cx="4206240" cy="4206240"/>
          </a:xfrm>
          <a:prstGeom prst="ellipse">
            <a:avLst/>
          </a:prstGeom>
          <a:ln w="19050">
            <a:solidFill>
              <a:srgbClr val="D8E6E1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1000" b="1" kern="0" spc="1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1000" b="1" kern="0" spc="100" dirty="0">
                <a:solidFill>
                  <a:srgbClr val="14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612648" y="3063240"/>
            <a:ext cx="2011680" cy="0"/>
          </a:xfrm>
          <a:prstGeom prst="line">
            <a:avLst/>
          </a:prstGeom>
          <a:noFill/>
          <a:ln w="31750">
            <a:solidFill>
              <a:srgbClr val="B77F1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66928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14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out-review Google. We out-</a:t>
            </a:r>
            <a:r>
              <a:rPr lang="en-US" sz="2600" b="1" i="1" dirty="0">
                <a:solidFill>
                  <a:srgbClr val="B77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r>
              <a:rPr lang="en-US" sz="2600" b="1" i="1" dirty="0">
                <a:solidFill>
                  <a:srgbClr val="14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local recommendations · measurable local impact · for Phuket.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709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let’s talk.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techlead@imimpowerconsulting.com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6355080"/>
            <a:ext cx="11057839" cy="0"/>
          </a:xfrm>
          <a:prstGeom prst="line">
            <a:avLst/>
          </a:prstGeom>
          <a:noFill/>
          <a:ln w="9525">
            <a:solidFill>
              <a:srgbClr val="E0E6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7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61727" y="6400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1466</Words>
  <Application>Microsoft Macintosh PowerPoint</Application>
  <PresentationFormat>Widescreen</PresentationFormat>
  <Paragraphs>274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LOMA</dc:creator>
  <cp:lastModifiedBy>ยอดยศ วงศ์พิมพ์</cp:lastModifiedBy>
  <cp:revision>2</cp:revision>
  <dcterms:created xsi:type="dcterms:W3CDTF">2026-07-03T06:55:06Z</dcterms:created>
  <dcterms:modified xsi:type="dcterms:W3CDTF">2026-07-03T07:28:16Z</dcterms:modified>
</cp:coreProperties>
</file>